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743200" cy="25603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100" b="1">
                <a:solidFill>
                  <a:srgbClr val="2F6FEF"/>
                </a:solidFill>
                <a:latin typeface="Aptos"/>
              </a:rPr>
              <a:t>TASK 3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6400800" cy="5029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2800" b="1">
                <a:solidFill>
                  <a:srgbClr val="172033"/>
                </a:solidFill>
                <a:latin typeface="Aptos"/>
              </a:rPr>
              <a:t>VLN Policy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7680960" cy="43891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320" b="0">
                <a:solidFill>
                  <a:srgbClr val="5D6980"/>
                </a:solidFill>
                <a:latin typeface="Aptos"/>
              </a:rPr>
              <a:t>A multimodal imitation-learning policy that grounds instructions in visual observations and predicts navigation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93776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F7F9FD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36435A"/>
                </a:solidFill>
                <a:latin typeface="Aptos"/>
              </a:rPr>
              <a:t>RGB + Language + Memory →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6420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CFD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47088"/>
            <a:ext cx="118872" cy="118872"/>
          </a:xfrm>
          <a:prstGeom prst="ellipse">
            <a:avLst/>
          </a:prstGeom>
          <a:solidFill>
            <a:srgbClr val="2F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755648"/>
            <a:ext cx="4937760" cy="310896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340" b="1">
                <a:solidFill>
                  <a:srgbClr val="172033"/>
                </a:solidFill>
                <a:latin typeface="Aptos"/>
              </a:rPr>
              <a:t>Visual 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6420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CFD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91072" y="1847088"/>
            <a:ext cx="118872" cy="118872"/>
          </a:xfrm>
          <a:prstGeom prst="ellipse">
            <a:avLst/>
          </a:prstGeom>
          <a:solidFill>
            <a:srgbClr val="7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755648"/>
            <a:ext cx="4937760" cy="310896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340" b="1">
                <a:solidFill>
                  <a:srgbClr val="172033"/>
                </a:solidFill>
                <a:latin typeface="Aptos"/>
              </a:rPr>
              <a:t>Language Stream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139696"/>
            <a:ext cx="153619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2231136"/>
            <a:ext cx="658368" cy="219456"/>
          </a:xfrm>
          <a:prstGeom prst="roundRect">
            <a:avLst>
              <a:gd name="adj" fmla="val 20000"/>
            </a:avLst>
          </a:prstGeom>
          <a:solidFill>
            <a:srgbClr val="2F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1353312" cy="2743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240" b="1">
                <a:solidFill>
                  <a:srgbClr val="172033"/>
                </a:solidFill>
                <a:latin typeface="Aptos"/>
              </a:rPr>
              <a:t>RGB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798063"/>
            <a:ext cx="1353312" cy="34747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40" b="0">
                <a:solidFill>
                  <a:srgbClr val="5D6980"/>
                </a:solidFill>
                <a:latin typeface="Aptos"/>
              </a:rPr>
              <a:t>Egocentric frame at timestep t.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249424" y="2578608"/>
            <a:ext cx="320040" cy="164592"/>
          </a:xfrm>
          <a:prstGeom prst="rightArrow">
            <a:avLst/>
          </a:prstGeom>
          <a:solidFill>
            <a:srgbClr val="8E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14600" y="2139696"/>
            <a:ext cx="153619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24328" y="2231136"/>
            <a:ext cx="658368" cy="219456"/>
          </a:xfrm>
          <a:prstGeom prst="roundRect">
            <a:avLst>
              <a:gd name="adj" fmla="val 20000"/>
            </a:avLst>
          </a:prstGeom>
          <a:solidFill>
            <a:srgbClr val="2F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Encoder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487168"/>
            <a:ext cx="1353312" cy="2743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240" b="1">
                <a:solidFill>
                  <a:srgbClr val="172033"/>
                </a:solidFill>
                <a:latin typeface="Aptos"/>
              </a:rPr>
              <a:t>ResNet-18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798063"/>
            <a:ext cx="1353312" cy="34747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40" b="0">
                <a:solidFill>
                  <a:srgbClr val="5D6980"/>
                </a:solidFill>
                <a:latin typeface="Aptos"/>
              </a:rPr>
              <a:t>Extracts layout and object cues.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50791" y="2578608"/>
            <a:ext cx="320040" cy="164592"/>
          </a:xfrm>
          <a:prstGeom prst="rightArrow">
            <a:avLst/>
          </a:prstGeom>
          <a:solidFill>
            <a:srgbClr val="8E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15968" y="2139696"/>
            <a:ext cx="132588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25696" y="2231136"/>
            <a:ext cx="658368" cy="219456"/>
          </a:xfrm>
          <a:prstGeom prst="roundRect">
            <a:avLst>
              <a:gd name="adj" fmla="val 20000"/>
            </a:avLst>
          </a:prstGeom>
          <a:solidFill>
            <a:srgbClr val="2F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7" y="2487168"/>
            <a:ext cx="1143000" cy="2743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240" b="1">
                <a:solidFill>
                  <a:srgbClr val="172033"/>
                </a:solidFill>
                <a:latin typeface="Aptos"/>
              </a:rPr>
              <a:t>Visual 256-D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7" y="2798063"/>
            <a:ext cx="1143000" cy="34747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40" b="0">
                <a:solidFill>
                  <a:srgbClr val="5D6980"/>
                </a:solidFill>
                <a:latin typeface="Aptos"/>
              </a:rPr>
              <a:t>Projected attention query.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2139696"/>
            <a:ext cx="153619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6520" y="2231136"/>
            <a:ext cx="658368" cy="219456"/>
          </a:xfrm>
          <a:prstGeom prst="roundRect">
            <a:avLst>
              <a:gd name="adj" fmla="val 20000"/>
            </a:avLst>
          </a:prstGeom>
          <a:solidFill>
            <a:srgbClr val="7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2487168"/>
            <a:ext cx="1353312" cy="2743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240" b="1">
                <a:solidFill>
                  <a:srgbClr val="172033"/>
                </a:solidFill>
                <a:latin typeface="Aptos"/>
              </a:rPr>
              <a:t>Instruction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2798063"/>
            <a:ext cx="1353312" cy="34747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40" b="0">
                <a:solidFill>
                  <a:srgbClr val="5D6980"/>
                </a:solidFill>
                <a:latin typeface="Aptos"/>
              </a:rPr>
              <a:t>Natural-language route command.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872983" y="2578608"/>
            <a:ext cx="320040" cy="164592"/>
          </a:xfrm>
          <a:prstGeom prst="rightArrow">
            <a:avLst/>
          </a:prstGeom>
          <a:solidFill>
            <a:srgbClr val="8E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2139696"/>
            <a:ext cx="153619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47888" y="2231136"/>
            <a:ext cx="658368" cy="219456"/>
          </a:xfrm>
          <a:prstGeom prst="roundRect">
            <a:avLst>
              <a:gd name="adj" fmla="val 20000"/>
            </a:avLst>
          </a:prstGeom>
          <a:solidFill>
            <a:srgbClr val="7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Encoder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487168"/>
            <a:ext cx="1353312" cy="2743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240" b="1">
                <a:solidFill>
                  <a:srgbClr val="172033"/>
                </a:solidFill>
                <a:latin typeface="Aptos"/>
              </a:rPr>
              <a:t>DistilBERT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798063"/>
            <a:ext cx="1353312" cy="34747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40" b="0">
                <a:solidFill>
                  <a:srgbClr val="5D6980"/>
                </a:solidFill>
                <a:latin typeface="Aptos"/>
              </a:rPr>
              <a:t>Contextual route-token features.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674352" y="2578608"/>
            <a:ext cx="320040" cy="164592"/>
          </a:xfrm>
          <a:prstGeom prst="rightArrow">
            <a:avLst/>
          </a:prstGeom>
          <a:solidFill>
            <a:srgbClr val="8E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39528" y="2139696"/>
            <a:ext cx="132588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49255" y="2231136"/>
            <a:ext cx="658368" cy="219456"/>
          </a:xfrm>
          <a:prstGeom prst="roundRect">
            <a:avLst>
              <a:gd name="adj" fmla="val 20000"/>
            </a:avLst>
          </a:prstGeom>
          <a:solidFill>
            <a:srgbClr val="7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Tokens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0967" y="2487168"/>
            <a:ext cx="1143000" cy="2743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240" b="1">
                <a:solidFill>
                  <a:srgbClr val="172033"/>
                </a:solidFill>
                <a:latin typeface="Aptos"/>
              </a:rPr>
              <a:t>Text Tokens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0967" y="2798063"/>
            <a:ext cx="1143000" cy="34747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40" b="0">
                <a:solidFill>
                  <a:srgbClr val="5D6980"/>
                </a:solidFill>
                <a:latin typeface="Aptos"/>
              </a:rPr>
              <a:t>Keys/values for attention.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3749039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86968" y="3840479"/>
            <a:ext cx="658368" cy="219456"/>
          </a:xfrm>
          <a:prstGeom prst="roundRect">
            <a:avLst>
              <a:gd name="adj" fmla="val 20000"/>
            </a:avLst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Fusion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096511"/>
            <a:ext cx="1645920" cy="2743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240" b="1">
                <a:solidFill>
                  <a:srgbClr val="172033"/>
                </a:solidFill>
                <a:latin typeface="Aptos"/>
              </a:rPr>
              <a:t>CMA Fusion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407407"/>
            <a:ext cx="1645920" cy="34747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40" b="0">
                <a:solidFill>
                  <a:srgbClr val="5D6980"/>
                </a:solidFill>
                <a:latin typeface="Aptos"/>
              </a:rPr>
              <a:t>Visual query attends to instruction tokens.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633472" y="4142231"/>
            <a:ext cx="320040" cy="164592"/>
          </a:xfrm>
          <a:prstGeom prst="rightArrow">
            <a:avLst/>
          </a:prstGeom>
          <a:solidFill>
            <a:srgbClr val="8E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926080" y="3749039"/>
            <a:ext cx="19659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035808" y="3840479"/>
            <a:ext cx="658368" cy="219456"/>
          </a:xfrm>
          <a:prstGeom prst="roundRect">
            <a:avLst>
              <a:gd name="adj" fmla="val 20000"/>
            </a:avLst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4096511"/>
            <a:ext cx="1783080" cy="2743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240" b="1">
                <a:solidFill>
                  <a:srgbClr val="172033"/>
                </a:solidFill>
                <a:latin typeface="Aptos"/>
              </a:rPr>
              <a:t>Gated Context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4407407"/>
            <a:ext cx="1783080" cy="34747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40" b="0">
                <a:solidFill>
                  <a:srgbClr val="5D6980"/>
                </a:solidFill>
                <a:latin typeface="Aptos"/>
              </a:rPr>
              <a:t>Balances vision and language.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4919472" y="4142231"/>
            <a:ext cx="320040" cy="164592"/>
          </a:xfrm>
          <a:prstGeom prst="rightArrow">
            <a:avLst/>
          </a:prstGeom>
          <a:solidFill>
            <a:srgbClr val="8E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212080" y="3749039"/>
            <a:ext cx="19659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321808" y="3840479"/>
            <a:ext cx="658368" cy="219456"/>
          </a:xfrm>
          <a:prstGeom prst="roundRect">
            <a:avLst>
              <a:gd name="adj" fmla="val 20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Memory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4096511"/>
            <a:ext cx="1783080" cy="2743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240" b="1">
                <a:solidFill>
                  <a:srgbClr val="172033"/>
                </a:solidFill>
                <a:latin typeface="Aptos"/>
              </a:rPr>
              <a:t>GRU Controller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0" y="4407407"/>
            <a:ext cx="1783080" cy="34747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40" b="0">
                <a:solidFill>
                  <a:srgbClr val="5D6980"/>
                </a:solidFill>
                <a:latin typeface="Aptos"/>
              </a:rPr>
              <a:t>Keeps route memory across turns.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7205472" y="4142231"/>
            <a:ext cx="320040" cy="164592"/>
          </a:xfrm>
          <a:prstGeom prst="rightArrow">
            <a:avLst/>
          </a:prstGeom>
          <a:solidFill>
            <a:srgbClr val="8E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498079" y="3749039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607807" y="3840479"/>
            <a:ext cx="658368" cy="219456"/>
          </a:xfrm>
          <a:prstGeom prst="roundRect">
            <a:avLst>
              <a:gd name="adj" fmla="val 20000"/>
            </a:avLst>
          </a:prstGeom>
          <a:solidFill>
            <a:srgbClr val="D3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19" y="4096511"/>
            <a:ext cx="1645920" cy="2743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240" b="1">
                <a:solidFill>
                  <a:srgbClr val="172033"/>
                </a:solidFill>
                <a:latin typeface="Aptos"/>
              </a:rPr>
              <a:t>Policy Head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89519" y="4407407"/>
            <a:ext cx="1645920" cy="34747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40" b="0">
                <a:solidFill>
                  <a:srgbClr val="5D6980"/>
                </a:solidFill>
                <a:latin typeface="Aptos"/>
              </a:rPr>
              <a:t>Predicts stop, forward, left, right.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9354312" y="4142231"/>
            <a:ext cx="320040" cy="164592"/>
          </a:xfrm>
          <a:prstGeom prst="rightArrow">
            <a:avLst/>
          </a:prstGeom>
          <a:solidFill>
            <a:srgbClr val="8E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646920" y="3749039"/>
            <a:ext cx="155448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756648" y="3840479"/>
            <a:ext cx="658368" cy="219456"/>
          </a:xfrm>
          <a:prstGeom prst="roundRect">
            <a:avLst>
              <a:gd name="adj" fmla="val 20000"/>
            </a:avLst>
          </a:prstGeom>
          <a:solidFill>
            <a:srgbClr val="D3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Loss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38360" y="4096511"/>
            <a:ext cx="1371600" cy="2743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240" b="1">
                <a:solidFill>
                  <a:srgbClr val="172033"/>
                </a:solidFill>
                <a:latin typeface="Aptos"/>
              </a:rPr>
              <a:t>Cross Entropy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38360" y="4407407"/>
            <a:ext cx="1371600" cy="34747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40" b="0">
                <a:solidFill>
                  <a:srgbClr val="5D6980"/>
                </a:solidFill>
                <a:latin typeface="Aptos"/>
              </a:rPr>
              <a:t>Imitation loss over actions.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51560" y="5074920"/>
            <a:ext cx="2971800" cy="566928"/>
          </a:xfrm>
          <a:prstGeom prst="roundRect">
            <a:avLst>
              <a:gd name="adj" fmla="val 14000"/>
            </a:avLst>
          </a:prstGeom>
          <a:solidFill>
            <a:srgbClr val="F8FBFF"/>
          </a:solidFill>
          <a:ln w="12700">
            <a:solidFill>
              <a:srgbClr val="DB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r>
              <a:rPr sz="940" b="0">
                <a:solidFill>
                  <a:srgbClr val="33405A"/>
                </a:solidFill>
                <a:latin typeface="Aptos"/>
              </a:rPr>
              <a:t>Attention: Visual state attends over DistilBERT tokens.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89120" y="5074920"/>
            <a:ext cx="2971800" cy="566928"/>
          </a:xfrm>
          <a:prstGeom prst="roundRect">
            <a:avLst>
              <a:gd name="adj" fmla="val 14000"/>
            </a:avLst>
          </a:prstGeom>
          <a:solidFill>
            <a:srgbClr val="F8FBFF"/>
          </a:solidFill>
          <a:ln w="12700">
            <a:solidFill>
              <a:srgbClr val="DB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r>
              <a:rPr sz="940" b="0">
                <a:solidFill>
                  <a:srgbClr val="33405A"/>
                </a:solidFill>
                <a:latin typeface="Aptos"/>
              </a:rPr>
              <a:t>Memory: GRU keeps navigation history across turns.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26679" y="5074920"/>
            <a:ext cx="2971800" cy="566928"/>
          </a:xfrm>
          <a:prstGeom prst="roundRect">
            <a:avLst>
              <a:gd name="adj" fmla="val 14000"/>
            </a:avLst>
          </a:prstGeom>
          <a:solidFill>
            <a:srgbClr val="F8FBFF"/>
          </a:solidFill>
          <a:ln w="12700">
            <a:solidFill>
              <a:srgbClr val="DB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r>
              <a:rPr sz="940" b="0">
                <a:solidFill>
                  <a:srgbClr val="33405A"/>
                </a:solidFill>
                <a:latin typeface="Aptos"/>
              </a:rPr>
              <a:t>Evaluation: Rollout uses learned actions only, no oracle takeover.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6336792"/>
            <a:ext cx="11155680" cy="18288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pPr algn="ctr"/>
            <a:r>
              <a:rPr sz="860" b="0">
                <a:solidFill>
                  <a:srgbClr val="8791A6"/>
                </a:solidFill>
                <a:latin typeface="Aptos"/>
              </a:rPr>
              <a:t>VLN-CE / Habitat     •     Task 3: Architecture + Training Method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743200" cy="25603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100" b="1">
                <a:solidFill>
                  <a:srgbClr val="2F6FEF"/>
                </a:solidFill>
                <a:latin typeface="Aptos"/>
              </a:rPr>
              <a:t>TASK 4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6400800" cy="5029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2800" b="1">
                <a:solidFill>
                  <a:srgbClr val="172033"/>
                </a:solidFill>
                <a:latin typeface="Aptos"/>
              </a:rPr>
              <a:t>Generalization and 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7680960" cy="43891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320" b="0">
                <a:solidFill>
                  <a:srgbClr val="5D6980"/>
                </a:solidFill>
                <a:latin typeface="Aptos"/>
              </a:rPr>
              <a:t>We stress-tested the CMA policy by changing environments, wording, data size, and fusion mechanism.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93776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F7F9FD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36435A"/>
                </a:solidFill>
                <a:latin typeface="Aptos"/>
              </a:rPr>
              <a:t>Evaluate → Stress Test → Compare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260604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92224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2F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773936"/>
            <a:ext cx="1783080" cy="25603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340" b="1">
                <a:solidFill>
                  <a:srgbClr val="172033"/>
                </a:solidFill>
                <a:latin typeface="Aptos"/>
              </a:rPr>
              <a:t>Held-Out Layouts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31136"/>
            <a:ext cx="2240280" cy="950976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50" b="0">
                <a:solidFill>
                  <a:srgbClr val="5D6980"/>
                </a:solidFill>
                <a:latin typeface="Aptos"/>
              </a:rPr>
              <a:t>Checked transfer beyond familiar navigation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60604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47872" y="1792224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7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1773936"/>
            <a:ext cx="1783080" cy="25603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340" b="1">
                <a:solidFill>
                  <a:srgbClr val="172033"/>
                </a:solidFill>
                <a:latin typeface="Aptos"/>
              </a:rPr>
              <a:t>Paraphrases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31136"/>
            <a:ext cx="2240280" cy="950976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50" b="0">
                <a:solidFill>
                  <a:srgbClr val="5D6980"/>
                </a:solidFill>
                <a:latin typeface="Aptos"/>
              </a:rPr>
              <a:t>Rewrote instructions with rule-based lexical substitutions.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45920"/>
            <a:ext cx="260604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6792" y="1792224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773936"/>
            <a:ext cx="1783080" cy="25603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340" b="1">
                <a:solidFill>
                  <a:srgbClr val="172033"/>
                </a:solidFill>
                <a:latin typeface="Aptos"/>
              </a:rPr>
              <a:t>Reduced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31136"/>
            <a:ext cx="2240280" cy="950976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50" b="0">
                <a:solidFill>
                  <a:srgbClr val="5D6980"/>
                </a:solidFill>
                <a:latin typeface="Aptos"/>
              </a:rPr>
              <a:t>Compared smaller and larger route-trajectory subsets.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645920"/>
            <a:ext cx="260604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25712" y="1792224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00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488" y="1773936"/>
            <a:ext cx="1783080" cy="25603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340" b="1">
                <a:solidFill>
                  <a:srgbClr val="172033"/>
                </a:solidFill>
                <a:latin typeface="Aptos"/>
              </a:rPr>
              <a:t>Fusion Ablation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231136"/>
            <a:ext cx="2240280" cy="950976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850" b="0">
                <a:solidFill>
                  <a:srgbClr val="5D6980"/>
                </a:solidFill>
                <a:latin typeface="Aptos"/>
              </a:rPr>
              <a:t>Compared CMA with simpler gated vision-language fusion.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57600"/>
            <a:ext cx="6172200" cy="1965960"/>
          </a:xfrm>
          <a:prstGeom prst="roundRect">
            <a:avLst>
              <a:gd name="adj" fmla="val 8000"/>
            </a:avLst>
          </a:prstGeom>
          <a:solidFill>
            <a:srgbClr val="FCFD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822191"/>
            <a:ext cx="3291840" cy="25603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540" b="1">
                <a:solidFill>
                  <a:srgbClr val="172033"/>
                </a:solidFill>
                <a:latin typeface="Aptos"/>
              </a:rPr>
              <a:t>Interpretation of Results</a:t>
            </a:r>
          </a:p>
        </p:txBody>
      </p:sp>
      <p:sp>
        <p:nvSpPr>
          <p:cNvPr id="24" name="Oval 23"/>
          <p:cNvSpPr/>
          <p:nvPr/>
        </p:nvSpPr>
        <p:spPr>
          <a:xfrm>
            <a:off x="841248" y="4261104"/>
            <a:ext cx="73152" cy="73152"/>
          </a:xfrm>
          <a:prstGeom prst="ellipse">
            <a:avLst/>
          </a:prstGeom>
          <a:solidFill>
            <a:srgbClr val="2F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187952"/>
            <a:ext cx="5303520" cy="292608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980" b="0">
                <a:solidFill>
                  <a:srgbClr val="303B51"/>
                </a:solidFill>
                <a:latin typeface="Aptos"/>
              </a:rPr>
              <a:t>CMA reduced final distance versus gated fusion.</a:t>
            </a:r>
          </a:p>
        </p:txBody>
      </p:sp>
      <p:sp>
        <p:nvSpPr>
          <p:cNvPr id="26" name="Oval 25"/>
          <p:cNvSpPr/>
          <p:nvPr/>
        </p:nvSpPr>
        <p:spPr>
          <a:xfrm>
            <a:off x="841248" y="4608576"/>
            <a:ext cx="73152" cy="73152"/>
          </a:xfrm>
          <a:prstGeom prst="ellipse">
            <a:avLst/>
          </a:prstGeom>
          <a:solidFill>
            <a:srgbClr val="2F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535424"/>
            <a:ext cx="5303520" cy="292608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980" b="0">
                <a:solidFill>
                  <a:srgbClr val="303B51"/>
                </a:solidFill>
                <a:latin typeface="Aptos"/>
              </a:rPr>
              <a:t>More route trajectories improved rollout behavior.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" y="4956048"/>
            <a:ext cx="73152" cy="73152"/>
          </a:xfrm>
          <a:prstGeom prst="ellipse">
            <a:avLst/>
          </a:prstGeom>
          <a:solidFill>
            <a:srgbClr val="2F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882896"/>
            <a:ext cx="5303520" cy="292608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980" b="0">
                <a:solidFill>
                  <a:srgbClr val="303B51"/>
                </a:solidFill>
                <a:latin typeface="Aptos"/>
              </a:rPr>
              <a:t>Paraphrases exposed wording sensitivity.</a:t>
            </a:r>
          </a:p>
        </p:txBody>
      </p:sp>
      <p:sp>
        <p:nvSpPr>
          <p:cNvPr id="30" name="Oval 29"/>
          <p:cNvSpPr/>
          <p:nvPr/>
        </p:nvSpPr>
        <p:spPr>
          <a:xfrm>
            <a:off x="841248" y="5303520"/>
            <a:ext cx="73152" cy="73152"/>
          </a:xfrm>
          <a:prstGeom prst="ellipse">
            <a:avLst/>
          </a:prstGeom>
          <a:solidFill>
            <a:srgbClr val="2F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230368"/>
            <a:ext cx="5303520" cy="292608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980" b="0">
                <a:solidFill>
                  <a:srgbClr val="303B51"/>
                </a:solidFill>
                <a:latin typeface="Aptos"/>
              </a:rPr>
              <a:t>Held-out layouts were harder because stopping and turns were less calibrated.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59168" y="3657600"/>
            <a:ext cx="4434840" cy="1965960"/>
          </a:xfrm>
          <a:prstGeom prst="roundRect">
            <a:avLst>
              <a:gd name="adj" fmla="val 8000"/>
            </a:avLst>
          </a:prstGeom>
          <a:solidFill>
            <a:srgbClr val="FCFD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78624" y="3822191"/>
            <a:ext cx="2286000" cy="25603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540" b="1">
                <a:solidFill>
                  <a:srgbClr val="172033"/>
                </a:solidFill>
                <a:latin typeface="Aptos"/>
              </a:rPr>
              <a:t>Key Numbers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80" y="4206240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42631" y="4279392"/>
            <a:ext cx="658368" cy="25603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850" b="1">
                <a:solidFill>
                  <a:srgbClr val="00A676"/>
                </a:solidFill>
                <a:latin typeface="Aptos"/>
              </a:rPr>
              <a:t>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2712" y="4279392"/>
            <a:ext cx="987552" cy="402336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680" b="0">
                <a:solidFill>
                  <a:srgbClr val="5D6980"/>
                </a:solidFill>
                <a:latin typeface="Aptos"/>
              </a:rPr>
              <a:t>Best clean validation SR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81160" y="4206240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54312" y="4279392"/>
            <a:ext cx="658368" cy="25603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850" b="1">
                <a:solidFill>
                  <a:srgbClr val="2F6FEF"/>
                </a:solidFill>
                <a:latin typeface="Aptos"/>
              </a:rPr>
              <a:t>5.92m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4392" y="4279392"/>
            <a:ext cx="987552" cy="402336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680" b="0">
                <a:solidFill>
                  <a:srgbClr val="5D6980"/>
                </a:solidFill>
                <a:latin typeface="Aptos"/>
              </a:rPr>
              <a:t>CMA distance in ablation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9480" y="4882896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42631" y="4956048"/>
            <a:ext cx="658368" cy="25603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850" b="1">
                <a:solidFill>
                  <a:srgbClr val="FF9F1C"/>
                </a:solidFill>
                <a:latin typeface="Aptos"/>
              </a:rPr>
              <a:t>37.5%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82712" y="4956048"/>
            <a:ext cx="987552" cy="402336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680" b="0">
                <a:solidFill>
                  <a:srgbClr val="5D6980"/>
                </a:solidFill>
                <a:latin typeface="Aptos"/>
              </a:rPr>
              <a:t>Best controlled SR/SPL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81160" y="4882896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54312" y="4956048"/>
            <a:ext cx="658368" cy="256032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1850" b="1">
                <a:solidFill>
                  <a:srgbClr val="D33F49"/>
                </a:solidFill>
                <a:latin typeface="Aptos"/>
              </a:rPr>
              <a:t>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94392" y="4956048"/>
            <a:ext cx="987552" cy="402336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r>
              <a:rPr sz="680" b="0">
                <a:solidFill>
                  <a:srgbClr val="5D6980"/>
                </a:solidFill>
                <a:latin typeface="Aptos"/>
              </a:rPr>
              <a:t>Paraphrase robustness drop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336792"/>
            <a:ext cx="11155680" cy="18288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pPr algn="ctr"/>
            <a:r>
              <a:rPr sz="860" b="0">
                <a:solidFill>
                  <a:srgbClr val="8791A6"/>
                </a:solidFill>
                <a:latin typeface="Aptos"/>
              </a:rPr>
              <a:t>Task 4: Generalization + Ablations     •     Interpretation-focused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